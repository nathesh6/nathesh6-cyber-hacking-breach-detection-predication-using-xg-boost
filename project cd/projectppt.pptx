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58" r:id="rId3"/>
    <p:sldId id="259" r:id="rId4"/>
    <p:sldId id="260" r:id="rId5"/>
    <p:sldId id="265" r:id="rId6"/>
    <p:sldId id="269" r:id="rId7"/>
    <p:sldId id="261" r:id="rId8"/>
    <p:sldId id="262" r:id="rId9"/>
    <p:sldId id="270" r:id="rId10"/>
    <p:sldId id="272" r:id="rId11"/>
    <p:sldId id="271" r:id="rId12"/>
    <p:sldId id="263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CC9F1-50E3-E4FE-F0A9-086634FCC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6BAEE5-5296-FD17-0835-B9859B127E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EED95-C2BB-2EE5-3669-7A15C2CE9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6A958-3A63-4CB1-8DEA-EFC7F479F85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39CE7-65F3-98A3-CC9E-0F75ED9CF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DBBAF-9E41-0545-3F9C-95FFE9FB3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98F-8CF7-4536-8B54-02CBF5E90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4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3F6F-70FA-264D-6426-2B96A1B84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35A0E-075B-9EEB-96F4-2B5A50254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C0B7C-4517-76C7-9C44-6D8C804C3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6A958-3A63-4CB1-8DEA-EFC7F479F85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D73FC-6298-4645-1457-5DDE0D441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C87CB-9A45-C0E1-BBA4-DC5E0CA5E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98F-8CF7-4536-8B54-02CBF5E90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311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3E528-6C24-27A8-5C8E-9F7BC68D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65AFB-1F22-386D-2827-F22D60B1C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F277A-AE61-3EE4-C178-FCA28D6E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6A958-3A63-4CB1-8DEA-EFC7F479F85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992F9-7201-BCA9-664B-A178C9644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90DD2-3BCE-3A6F-9F1D-C0DE5FB82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98F-8CF7-4536-8B54-02CBF5E90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09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97BDB-DCC0-C989-E904-A23497966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123EE-0013-5CF8-E039-06E5DD2D2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A793E-2CF2-09EE-79EA-DB80D50EE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60CAD-0824-EEA2-632E-8CEE61363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6A958-3A63-4CB1-8DEA-EFC7F479F85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F4796-0B02-2552-3C6E-F87283A42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C0DD8-7E4C-6544-F396-BCA682365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98F-8CF7-4536-8B54-02CBF5E90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514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C8889-2616-FA56-F846-08C0CAB78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B70BE-206E-5494-984D-21A30CC1B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6353C3-C255-7161-6BCE-3C4854264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136A62-A19E-8297-93D2-0093E1751A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7CD843-B841-ACBD-EBE8-84FC8B9BC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BD5EB9-2C3F-C1D0-4247-67A2BBE1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6A958-3A63-4CB1-8DEA-EFC7F479F85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E917AF-80CB-9B00-D3D6-7C1F36517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D8FECD-ED9A-A331-E9B3-98833EEC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98F-8CF7-4536-8B54-02CBF5E90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975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FDDEB-5176-9771-428C-B438586B3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B3A49-8224-7EB8-FBD3-08048E8D5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6A958-3A63-4CB1-8DEA-EFC7F479F85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6DC03-A52C-67C7-D41E-8A36EC489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14520-6E92-CEE2-9690-8498E8FB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98F-8CF7-4536-8B54-02CBF5E90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572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62BB31-B90F-4E2B-EC9C-5B79D7938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6A958-3A63-4CB1-8DEA-EFC7F479F85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CC2B92-114F-1123-0BD0-43D8EE11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C9289-9E53-5DBD-E710-86A85D309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98F-8CF7-4536-8B54-02CBF5E90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512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77788-4C93-EE25-1E0A-7BEF47FDD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CEC8A-8D2D-9A5C-237E-C82C3C3FD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2969D3-CB1C-D76E-A54C-C36F25175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AB076-F381-C2C9-6A49-B53CB9E3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6A958-3A63-4CB1-8DEA-EFC7F479F85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7F362-3D50-9171-7EA4-C2B0D89CE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7934D-B3A3-1D6E-AB27-41DAE160F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98F-8CF7-4536-8B54-02CBF5E90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624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7937E-5931-E80E-418E-7E5A92FE6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85C0AA-BAB3-320D-7C24-8E9A531DD7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0147B-41C2-8496-16AD-F1414033C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311AA-E208-4696-4FE1-9FC6C346C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6A958-3A63-4CB1-8DEA-EFC7F479F85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6A4B3-1A41-361C-9B12-3648CB48D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2A32C-E8E1-CA62-4167-4605A66D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98F-8CF7-4536-8B54-02CBF5E90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416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14900-5953-CE88-2557-EC99F29F8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35C38-1E40-453E-CC33-0FA835A75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BC804-D5FE-2D3D-4C30-A73C9AEFC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6A958-3A63-4CB1-8DEA-EFC7F479F85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A2F99-F681-BE9B-82C5-7F8A89A60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00E81-6876-EAF7-E57A-882B387DD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98F-8CF7-4536-8B54-02CBF5E90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271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A5794E-2B68-5DFE-66B5-436C77F4C4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0A7923-2FBA-69E0-65AE-F4B2F80F0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02F60-407C-1115-8910-DA310CCC3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6A958-3A63-4CB1-8DEA-EFC7F479F85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7E56D-EC55-6FAB-4438-7DCBED7B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CB4A3-145A-D6C6-ADEC-56136A647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98F-8CF7-4536-8B54-02CBF5E90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75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9E01EE-DB6A-E9D5-57AA-631F640FF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59C26-FB6C-0A31-6F82-F1EC39825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9E166-9C77-81BF-991A-1EA11A0F6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36A958-3A63-4CB1-8DEA-EFC7F479F85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A7076-072C-EAF5-0461-C34654C67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0A79D-3D66-0148-A127-0393E8C90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B0B98F-8CF7-4536-8B54-02CBF5E90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533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D1F3-C739-F366-7BC2-C5BCE28A3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Autofit/>
          </a:bodyPr>
          <a:lstStyle/>
          <a:p>
            <a:r>
              <a:rPr lang="en-US" sz="5400" dirty="0"/>
              <a:t>Cyber Hacking Breaches Detection And Prediction Using Machine Learning</a:t>
            </a:r>
            <a:endParaRPr lang="en-VG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4B80C-A8FE-56C2-53FF-C8AF29580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0548" y="2900515"/>
            <a:ext cx="5181600" cy="344129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Guide Name: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Ms.V.Saranaya,M.E</a:t>
            </a:r>
            <a:r>
              <a:rPr lang="en-US" dirty="0"/>
              <a:t> </a:t>
            </a:r>
            <a:endParaRPr lang="en-V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905A09-AAB9-B886-7BF0-55FB7B430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900515"/>
            <a:ext cx="5319252" cy="289068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Presented By:</a:t>
            </a:r>
          </a:p>
          <a:p>
            <a:pPr marL="0" indent="0">
              <a:buNone/>
            </a:pPr>
            <a:r>
              <a:rPr lang="en-US" dirty="0"/>
              <a:t>    Anisuthan S -71052202007</a:t>
            </a:r>
          </a:p>
          <a:p>
            <a:pPr marL="0" indent="0">
              <a:buNone/>
            </a:pPr>
            <a:r>
              <a:rPr lang="en-US" dirty="0"/>
              <a:t>    Angeshkumar P-71052202301</a:t>
            </a:r>
          </a:p>
          <a:p>
            <a:pPr marL="0" indent="0">
              <a:buNone/>
            </a:pPr>
            <a:r>
              <a:rPr lang="en-US" dirty="0"/>
              <a:t>    Nathesh PV-71052202303</a:t>
            </a:r>
          </a:p>
          <a:p>
            <a:pPr marL="0" indent="0">
              <a:buNone/>
            </a:pPr>
            <a:r>
              <a:rPr lang="en-US" dirty="0"/>
              <a:t>    Sanjayram S-71052202308</a:t>
            </a:r>
          </a:p>
          <a:p>
            <a:pPr marL="0" indent="0">
              <a:buNone/>
            </a:pPr>
            <a:endParaRPr lang="en-VG" dirty="0"/>
          </a:p>
        </p:txBody>
      </p:sp>
    </p:spTree>
    <p:extLst>
      <p:ext uri="{BB962C8B-B14F-4D97-AF65-F5344CB8AC3E}">
        <p14:creationId xmlns:p14="http://schemas.microsoft.com/office/powerpoint/2010/main" val="3119200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57AE3-8EDF-FAC2-349A-455029059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>
                <a:cs typeface="Times New Roman" panose="02020603050405020304" pitchFamily="18" charset="0"/>
              </a:rPr>
              <a:t>Introduction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5F09-2D63-588A-C4DC-2EF4E3922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600" b="1" dirty="0"/>
              <a:t>XG-Boost-Based Intelligent URL Security System: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This project presents an advanced cybersecurity model designed to predict and detect cyber threats by analyzing URL characteristics.</a:t>
            </a:r>
          </a:p>
          <a:p>
            <a:pPr marL="0" indent="0">
              <a:buNone/>
            </a:pPr>
            <a:r>
              <a:rPr lang="en-US" sz="2600" b="1" dirty="0"/>
              <a:t>The system is crafted to provide</a:t>
            </a:r>
            <a:r>
              <a:rPr lang="en-US" sz="2600" dirty="0"/>
              <a:t>:</a:t>
            </a:r>
          </a:p>
          <a:p>
            <a:r>
              <a:rPr lang="en-US" sz="2400" dirty="0"/>
              <a:t>Accurate future threat prediction</a:t>
            </a:r>
          </a:p>
          <a:p>
            <a:r>
              <a:rPr lang="en-US" sz="2400" dirty="0"/>
              <a:t>Real-time malicious URL detection</a:t>
            </a:r>
          </a:p>
          <a:p>
            <a:r>
              <a:rPr lang="en-US" sz="2400" dirty="0"/>
              <a:t>Live monitoring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6683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E6BDC-E8E1-C7DC-0F11-CFD970721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Problem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84F69-E971-B705-923C-C8B8CD3D6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600" b="1" dirty="0"/>
              <a:t>Why This Project Is Important:</a:t>
            </a:r>
          </a:p>
          <a:p>
            <a:pPr marL="0" indent="0">
              <a:buNone/>
            </a:pPr>
            <a:r>
              <a:rPr lang="en-US" sz="2400" dirty="0"/>
              <a:t>Modern cybersecurity faces major challenges due to the rapid growth of digital platforms: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C3C6AD-B9D3-7708-4A65-7920533D4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120015"/>
            <a:ext cx="8396786" cy="2255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Cyberattacks are rising rapidly with increasing digital usage.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Many breaches begin with phishing or malicious URLs.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Users are often tricked into revealing sensitive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Traditional security tools detect threats only after damage occurs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4055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ADE43-CCAC-71FF-DC80-0AE7759E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Solution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3C5C4-1689-E02C-6C08-9CE9C1E08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system uses Machine Learning to secure users from harmful URLs.</a:t>
            </a:r>
          </a:p>
          <a:p>
            <a:pPr marL="0" indent="0">
              <a:buNone/>
            </a:pPr>
            <a:r>
              <a:rPr lang="en-US" sz="2400" dirty="0"/>
              <a:t>It has two key modules: </a:t>
            </a:r>
          </a:p>
          <a:p>
            <a:pPr marL="0" indent="0">
              <a:buNone/>
            </a:pPr>
            <a:r>
              <a:rPr lang="en-US" sz="2600" b="1" dirty="0"/>
              <a:t>Prediction</a:t>
            </a:r>
            <a:r>
              <a:rPr lang="en-US" sz="2600" dirty="0"/>
              <a:t> </a:t>
            </a:r>
            <a:r>
              <a:rPr lang="en-US" sz="2600" b="1" dirty="0"/>
              <a:t>and</a:t>
            </a:r>
            <a:r>
              <a:rPr lang="en-US" sz="2600" dirty="0"/>
              <a:t> </a:t>
            </a:r>
            <a:r>
              <a:rPr lang="en-US" sz="2600" b="1" dirty="0"/>
              <a:t>Detection:</a:t>
            </a:r>
            <a:endParaRPr lang="en-US" sz="2600" dirty="0"/>
          </a:p>
          <a:p>
            <a:r>
              <a:rPr lang="en-US" sz="2400" dirty="0"/>
              <a:t>The Prediction Module analyzes URL patterns to identify future threats.</a:t>
            </a:r>
          </a:p>
          <a:p>
            <a:r>
              <a:rPr lang="en-US" sz="2400" dirty="0"/>
              <a:t>It generates a risk probability score to support preventive security actions.</a:t>
            </a:r>
          </a:p>
          <a:p>
            <a:r>
              <a:rPr lang="en-US" sz="2400" dirty="0"/>
              <a:t>The Detection Module scans URLs in real time to spot malicious or suspicious links.</a:t>
            </a:r>
          </a:p>
          <a:p>
            <a:r>
              <a:rPr lang="en-US" sz="2400" dirty="0"/>
              <a:t>Together, both modules provide strong proactive and reactive cybersecurity protection.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8100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FB149-DE14-67E1-DB67-9A7C3660E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Objectives:</a:t>
            </a:r>
            <a:endParaRPr lang="en-IN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586D3-9ADE-B706-174E-0C3FBB4BC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Develop ML models for accurate malicious URL prediction and detection</a:t>
            </a:r>
          </a:p>
          <a:p>
            <a:r>
              <a:rPr lang="en-US" sz="2400" dirty="0"/>
              <a:t>Implement real-time threat analysis with sub-second response times</a:t>
            </a:r>
          </a:p>
          <a:p>
            <a:r>
              <a:rPr lang="en-US" sz="2400" dirty="0"/>
              <a:t>Create proactive threat forecasting capabilities</a:t>
            </a:r>
          </a:p>
          <a:p>
            <a:r>
              <a:rPr lang="en-US" sz="2400" dirty="0"/>
              <a:t>Build comprehensive analytics for security intelligence</a:t>
            </a:r>
          </a:p>
          <a:p>
            <a:r>
              <a:rPr lang="en-US" sz="2400" dirty="0"/>
              <a:t>Design user-friendly interface for enterprise deployment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56717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32C7F-FCDB-5D08-EC18-4F6E8B9B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0721"/>
            <a:ext cx="10515600" cy="632440"/>
          </a:xfrm>
        </p:spPr>
        <p:txBody>
          <a:bodyPr>
            <a:normAutofit fontScale="90000"/>
          </a:bodyPr>
          <a:lstStyle/>
          <a:p>
            <a:br>
              <a:rPr lang="en-IN" b="1" dirty="0">
                <a:effectLst/>
                <a:latin typeface="quote-cjk-patch"/>
              </a:rPr>
            </a:br>
            <a:r>
              <a:rPr lang="en-IN" sz="6000" b="1" dirty="0">
                <a:effectLst/>
                <a:latin typeface="quote-cjk-patch"/>
              </a:rPr>
              <a:t>XG-Boost</a:t>
            </a:r>
            <a:br>
              <a:rPr lang="en-IN" b="1" dirty="0">
                <a:solidFill>
                  <a:srgbClr val="F9FAFB"/>
                </a:solidFill>
                <a:effectLst/>
                <a:latin typeface="quote-cjk-patch"/>
              </a:rPr>
            </a:br>
            <a:br>
              <a:rPr lang="en-IN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en-V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81C2B-ABC6-6FE9-957E-1C5B49E8A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5100" b="1" dirty="0">
                <a:effectLst/>
                <a:latin typeface="quote-cjk-patch"/>
              </a:rPr>
              <a:t>What is </a:t>
            </a:r>
            <a:r>
              <a:rPr lang="en-US" sz="5100" b="1" dirty="0" err="1">
                <a:effectLst/>
                <a:latin typeface="quote-cjk-patch"/>
              </a:rPr>
              <a:t>XGBoost</a:t>
            </a:r>
            <a:r>
              <a:rPr lang="en-US" sz="5100" b="1" dirty="0">
                <a:effectLst/>
                <a:latin typeface="quote-cjk-patch"/>
              </a:rPr>
              <a:t>?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5000" dirty="0">
                <a:latin typeface="quote-cjk-patch"/>
              </a:rPr>
              <a:t>Ex</a:t>
            </a:r>
            <a:r>
              <a:rPr lang="en-US" sz="5000" i="0" dirty="0">
                <a:effectLst/>
                <a:latin typeface="quote-cjk-patch"/>
              </a:rPr>
              <a:t>treme Gradient Boosting - Advanced machine learning algorithm</a:t>
            </a:r>
          </a:p>
          <a:p>
            <a:pPr algn="l">
              <a:lnSpc>
                <a:spcPct val="12000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5000" i="0" dirty="0">
                <a:effectLst/>
                <a:latin typeface="quote-cjk-patch"/>
              </a:rPr>
              <a:t>Ensemble Method - Combines multiple weak models to create strong predictions</a:t>
            </a:r>
          </a:p>
          <a:p>
            <a:pPr algn="l">
              <a:lnSpc>
                <a:spcPct val="12000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5000" i="0" dirty="0">
                <a:effectLst/>
                <a:latin typeface="quote-cjk-patch"/>
              </a:rPr>
              <a:t>Winning Solution - Dominates Kaggle competitions and real-world applications</a:t>
            </a:r>
            <a:r>
              <a:rPr lang="en-US" sz="5000" dirty="0">
                <a:effectLst/>
                <a:latin typeface="quote-cjk-patch"/>
              </a:rPr>
              <a:t> Why </a:t>
            </a:r>
            <a:r>
              <a:rPr lang="en-US" sz="5000" dirty="0" err="1">
                <a:effectLst/>
                <a:latin typeface="quote-cjk-patch"/>
              </a:rPr>
              <a:t>XGBoost</a:t>
            </a:r>
            <a:r>
              <a:rPr lang="en-US" sz="5000" dirty="0">
                <a:effectLst/>
                <a:latin typeface="quote-cjk-patch"/>
              </a:rPr>
              <a:t> for URL Security?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5000" b="1" dirty="0">
                <a:effectLst/>
                <a:latin typeface="quote-cjk-patch"/>
              </a:rPr>
              <a:t>Speed &amp; Performance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5000" i="0" dirty="0">
                <a:effectLst/>
                <a:latin typeface="quote-cjk-patch"/>
              </a:rPr>
              <a:t>10x Faster than traditional algorithms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5000" i="0" dirty="0">
                <a:effectLst/>
                <a:latin typeface="quote-cjk-patch"/>
              </a:rPr>
              <a:t>Parallel Processing handles large datasets efficiently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5000" i="0" dirty="0">
                <a:effectLst/>
                <a:latin typeface="quote-cjk-patch"/>
              </a:rPr>
              <a:t>Real-time Predictions </a:t>
            </a:r>
            <a:r>
              <a:rPr lang="en-US" sz="5000" b="0" i="0" dirty="0">
                <a:effectLst/>
                <a:latin typeface="quote-cjk-patch"/>
              </a:rPr>
              <a:t>crucial for instant threat detection</a:t>
            </a:r>
          </a:p>
          <a:p>
            <a:pPr marL="0" indent="0">
              <a:buNone/>
            </a:pPr>
            <a:endParaRPr lang="en-VG" dirty="0"/>
          </a:p>
        </p:txBody>
      </p:sp>
    </p:spTree>
    <p:extLst>
      <p:ext uri="{BB962C8B-B14F-4D97-AF65-F5344CB8AC3E}">
        <p14:creationId xmlns:p14="http://schemas.microsoft.com/office/powerpoint/2010/main" val="2976643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DB485-9FBC-19F5-8AC7-8D565FC8A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Prediction Module: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B4F18-D740-6D57-DB4D-6A559DF4B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600" b="1" dirty="0"/>
              <a:t>Future Threat Prediction:</a:t>
            </a:r>
            <a:endParaRPr lang="en-US" sz="2600" b="1" dirty="0"/>
          </a:p>
          <a:p>
            <a:r>
              <a:rPr lang="en-US" sz="2400" dirty="0"/>
              <a:t>The prediction module focuses on proactive cybersecurity, enabling organizations to stay ahead of threats:</a:t>
            </a:r>
          </a:p>
          <a:p>
            <a:r>
              <a:rPr lang="en-US" sz="2400" dirty="0"/>
              <a:t>Extracts and analyzes historical URL behavior and structure.</a:t>
            </a:r>
          </a:p>
          <a:p>
            <a:r>
              <a:rPr lang="en-US" sz="2400" dirty="0"/>
              <a:t>Predicts possibility of future harm by identifying suspicious patterns.</a:t>
            </a:r>
          </a:p>
          <a:p>
            <a:r>
              <a:rPr lang="en-US" sz="2400" dirty="0"/>
              <a:t>Assigns a risk score (0–100%) that categorizes URLs into:</a:t>
            </a:r>
          </a:p>
          <a:p>
            <a:pPr lvl="1"/>
            <a:r>
              <a:rPr lang="en-US" dirty="0"/>
              <a:t>Low Risk</a:t>
            </a:r>
          </a:p>
          <a:p>
            <a:pPr lvl="1"/>
            <a:r>
              <a:rPr lang="en-US" dirty="0"/>
              <a:t>Medium Risk</a:t>
            </a:r>
          </a:p>
          <a:p>
            <a:pPr lvl="1"/>
            <a:r>
              <a:rPr lang="en-US" dirty="0"/>
              <a:t>High Risk</a:t>
            </a:r>
          </a:p>
          <a:p>
            <a:r>
              <a:rPr lang="en-US" sz="2400" dirty="0"/>
              <a:t>Allows security teams to take action </a:t>
            </a:r>
            <a:r>
              <a:rPr lang="en-US" sz="2400" i="1" dirty="0"/>
              <a:t>before</a:t>
            </a:r>
            <a:r>
              <a:rPr lang="en-US" sz="2400" dirty="0"/>
              <a:t> a harmful URL is used in phishing or fraud campaigns.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7587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328A5-51B5-D503-0393-2131CEE0A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Detection Module: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08B11-4C99-B769-6E66-8ECAA4F25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/>
              <a:t>Real-Time Cyber Threat Identification:</a:t>
            </a:r>
          </a:p>
          <a:p>
            <a:r>
              <a:rPr lang="en-US" sz="2400" dirty="0"/>
              <a:t>The detection module safeguards users by providing instant protection:</a:t>
            </a:r>
          </a:p>
          <a:p>
            <a:r>
              <a:rPr lang="en-US" sz="2400" dirty="0"/>
              <a:t>Immediately scans a URL when a user enters or clicks it.</a:t>
            </a:r>
          </a:p>
          <a:p>
            <a:r>
              <a:rPr lang="en-US" sz="2400" dirty="0"/>
              <a:t>Examines structure, keywords, domain properties, SSL certificates, and more.</a:t>
            </a:r>
          </a:p>
          <a:p>
            <a:r>
              <a:rPr lang="en-US" sz="2400" dirty="0"/>
              <a:t>Detects phishing, malware delivery, and fraudulent behavior.</a:t>
            </a:r>
          </a:p>
          <a:p>
            <a:r>
              <a:rPr lang="en-US" sz="2400" dirty="0"/>
              <a:t>Produces:</a:t>
            </a:r>
          </a:p>
          <a:p>
            <a:pPr lvl="1"/>
            <a:r>
              <a:rPr lang="en-US" dirty="0"/>
              <a:t>A threat score</a:t>
            </a:r>
          </a:p>
          <a:p>
            <a:pPr lvl="1"/>
            <a:r>
              <a:rPr lang="en-US" dirty="0"/>
              <a:t>Threat classification (Safe / Suspicious / Malicious)</a:t>
            </a:r>
          </a:p>
          <a:p>
            <a:r>
              <a:rPr lang="en-US" sz="2400" dirty="0"/>
              <a:t>Triggers instant alerts to warn users or administrators.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938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23613-33FB-53B9-E4E2-B460DD493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System Architecture Design </a:t>
            </a:r>
            <a:endParaRPr lang="en-VG" sz="54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01CDF4-AA9F-C982-3E37-6B1DA89C09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4083669"/>
              </p:ext>
            </p:extLst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0521447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373333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FRONTEND (User Interface):</a:t>
                      </a:r>
                    </a:p>
                    <a:p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Framework: HTML5, CSS3, JavaScript</a:t>
                      </a:r>
                    </a:p>
                    <a:p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Templates: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Home, Login, Module Selection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Prediction &amp; Detection Interfaces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Real-time Analytics Dashboards</a:t>
                      </a:r>
                    </a:p>
                    <a:p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Features: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Responsive Web Design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Interactive Threat Visualization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Live Security Metrics Display</a:t>
                      </a:r>
                    </a:p>
                    <a:p>
                      <a:endParaRPr lang="en-V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BACKEND (Server &amp; Processing)</a:t>
                      </a:r>
                      <a:endParaRPr lang="en-IN" sz="2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Framework: Flask Python API</a:t>
                      </a:r>
                    </a:p>
                    <a:p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Core Components: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Authentication &amp; Session Management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RESTful API Endpoints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Rate Limiting &amp; Security Middleware</a:t>
                      </a:r>
                    </a:p>
                    <a:p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Database: SQLite with Analytics Storage</a:t>
                      </a:r>
                    </a:p>
                    <a:p>
                      <a:endParaRPr lang="en-V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263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131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D0666-830E-1CEA-49D8-EBEE04A5C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33208-C40A-DAF6-7DCC-711DEF09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/>
              <a:t>System Architecture Design </a:t>
            </a:r>
            <a:endParaRPr lang="en-VG" sz="54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E9FF05-F813-E8A0-76E5-B61E44B967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9511793"/>
              </p:ext>
            </p:extLst>
          </p:nvPr>
        </p:nvGraphicFramePr>
        <p:xfrm>
          <a:off x="838200" y="1372235"/>
          <a:ext cx="10515600" cy="521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0521447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373333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ALGORITHM (Machine Learning Core)</a:t>
                      </a:r>
                      <a:endParaRPr lang="en-US" sz="2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Technology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Ensemble Learning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Dual ML Models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Detection Model (Real-time Analysis)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Prediction Model (Future Threat Forecasting)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 Engineering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lvl="1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15+ URL Parameters Analyzed</a:t>
                      </a:r>
                    </a:p>
                    <a:p>
                      <a:pPr lvl="1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Structural, Content &amp; Security Features</a:t>
                      </a:r>
                    </a:p>
                    <a:p>
                      <a:endParaRPr lang="en-V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 &amp; DISPLAY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Real-time Results</a:t>
                      </a:r>
                      <a:endParaRPr lang="en-US" sz="2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Threat Scores (0-100)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Risk Levels (Low-Critical)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Probability Percentages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 Analytics</a:t>
                      </a:r>
                      <a:endParaRPr lang="en-US" sz="2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Interactive Charts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Threat Maps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Performance Dashboard</a:t>
                      </a:r>
                    </a:p>
                    <a:p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Actionable Intelligence</a:t>
                      </a:r>
                      <a:endParaRPr lang="en-US" sz="2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Security Recommendations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Preventive Measures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Historical Analysis</a:t>
                      </a:r>
                    </a:p>
                    <a:p>
                      <a:endParaRPr lang="en-V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263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462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DA0D-0563-9923-3FE0-36E63685D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Flow Chart</a:t>
            </a:r>
            <a:endParaRPr lang="en-VG" sz="5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59CF77-432F-A343-EA89-BBD504129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4606" y="1460500"/>
            <a:ext cx="6489290" cy="5032375"/>
          </a:xfrm>
        </p:spPr>
      </p:pic>
    </p:spTree>
    <p:extLst>
      <p:ext uri="{BB962C8B-B14F-4D97-AF65-F5344CB8AC3E}">
        <p14:creationId xmlns:p14="http://schemas.microsoft.com/office/powerpoint/2010/main" val="311061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3D8DB-5326-224F-D190-51896ED9C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Key Features and Benefits: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253C20F-5CD8-247C-6D2F-9ADC0AA9E3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5720103"/>
              </p:ext>
            </p:extLst>
          </p:nvPr>
        </p:nvGraphicFramePr>
        <p:xfrm>
          <a:off x="838199" y="1825625"/>
          <a:ext cx="10645878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22939">
                  <a:extLst>
                    <a:ext uri="{9D8B030D-6E8A-4147-A177-3AD203B41FA5}">
                      <a16:colId xmlns:a16="http://schemas.microsoft.com/office/drawing/2014/main" val="2284082588"/>
                    </a:ext>
                  </a:extLst>
                </a:gridCol>
                <a:gridCol w="5322939">
                  <a:extLst>
                    <a:ext uri="{9D8B030D-6E8A-4147-A177-3AD203B41FA5}">
                      <a16:colId xmlns:a16="http://schemas.microsoft.com/office/drawing/2014/main" val="519576172"/>
                    </a:ext>
                  </a:extLst>
                </a:gridCol>
              </a:tblGrid>
              <a:tr h="3621446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ML-based future risk prediction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Real-time malicious URL detection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Interactive analytics dashboard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Automated protection with minimal manual effort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Lightweight, fast, and enterprise-ready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Fewer security breaches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Faster response to threats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Safer browsing for users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Scalable for large systems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Continuous learning for higher accuracy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556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9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E8016-2997-9FAB-BFD1-4A1812997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Future Enhancements: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15AED-8F4A-79DC-98B1-85B93FC65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lang="en-IN" sz="2400" i="0" dirty="0">
                <a:effectLst/>
                <a:latin typeface="+mj-lt"/>
              </a:rPr>
              <a:t>Modular Design - Six specialized components (Authentication, Dashboard, URL Input, etc.) ensure organized, maintainable code.</a:t>
            </a:r>
          </a:p>
          <a:p>
            <a:pPr algn="l">
              <a:lnSpc>
                <a:spcPct val="100000"/>
              </a:lnSpc>
              <a:spcBef>
                <a:spcPts val="450"/>
              </a:spcBef>
            </a:pPr>
            <a:r>
              <a:rPr lang="en-IN" sz="2400" i="0" dirty="0">
                <a:effectLst/>
                <a:latin typeface="+mj-lt"/>
              </a:rPr>
              <a:t>Complete User Journey - Handles everything from URL input and analysis to interactive results visualization and reporting.</a:t>
            </a:r>
          </a:p>
          <a:p>
            <a:pPr algn="l">
              <a:lnSpc>
                <a:spcPct val="100000"/>
              </a:lnSpc>
              <a:spcBef>
                <a:spcPts val="450"/>
              </a:spcBef>
            </a:pPr>
            <a:r>
              <a:rPr lang="en-IN" sz="2400" i="0" dirty="0">
                <a:effectLst/>
                <a:latin typeface="+mj-lt"/>
              </a:rPr>
              <a:t>Enterprise Management - Full administrative control with user management, system monitoring, and configuration settings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36499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EE96-BCDE-A799-8E59-E762F4F66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9C794-4A22-09DF-6C43-23D363313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600" b="1" dirty="0"/>
              <a:t>Why This Project Is Valuable:</a:t>
            </a:r>
          </a:p>
          <a:p>
            <a:r>
              <a:rPr lang="en-US" sz="2400" dirty="0"/>
              <a:t>Combines prediction + detection, offering holistic security.</a:t>
            </a:r>
          </a:p>
          <a:p>
            <a:r>
              <a:rPr lang="en-US" sz="2400" dirty="0"/>
              <a:t>Uses XG-Boost, one of the most powerful ML algorithms.</a:t>
            </a:r>
          </a:p>
          <a:p>
            <a:r>
              <a:rPr lang="en-US" sz="2400" dirty="0"/>
              <a:t>Provides real-time</a:t>
            </a:r>
            <a:r>
              <a:rPr lang="en-US" sz="2400" b="1" dirty="0"/>
              <a:t> </a:t>
            </a:r>
            <a:r>
              <a:rPr lang="en-US" sz="2400" dirty="0"/>
              <a:t>threat analysis with high accuracy.</a:t>
            </a:r>
          </a:p>
          <a:p>
            <a:r>
              <a:rPr lang="en-US" sz="2400" dirty="0"/>
              <a:t>Easy to use, scalable, and adaptable to new cyber threats.</a:t>
            </a:r>
          </a:p>
          <a:p>
            <a:r>
              <a:rPr lang="en-US" sz="2400" dirty="0"/>
              <a:t>Helps individuals and companies stay safe in an increasingly dangerous digital world.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2649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FA55F5-D519-7252-64B4-7B45B9CFA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304" y="1816646"/>
            <a:ext cx="7718256" cy="299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176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797</Words>
  <Application>Microsoft Office PowerPoint</Application>
  <PresentationFormat>Widescreen</PresentationFormat>
  <Paragraphs>128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quote-cjk-patch</vt:lpstr>
      <vt:lpstr>Times New Roman</vt:lpstr>
      <vt:lpstr>Office Theme</vt:lpstr>
      <vt:lpstr>Cyber Hacking Breaches Detection And Prediction Using Machine Learning</vt:lpstr>
      <vt:lpstr>Introduction:</vt:lpstr>
      <vt:lpstr>Problem Statement:</vt:lpstr>
      <vt:lpstr>Solution Overview:</vt:lpstr>
      <vt:lpstr>Objectives:</vt:lpstr>
      <vt:lpstr> XG-Boost  </vt:lpstr>
      <vt:lpstr>Prediction Module:</vt:lpstr>
      <vt:lpstr>Detection Module:</vt:lpstr>
      <vt:lpstr>System Architecture Design </vt:lpstr>
      <vt:lpstr>System Architecture Design </vt:lpstr>
      <vt:lpstr>Flow Chart</vt:lpstr>
      <vt:lpstr>Key Features and Benefits:</vt:lpstr>
      <vt:lpstr>Future Enhancements: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Mukilan U</dc:creator>
  <cp:lastModifiedBy>Nathesh Venkateswaran</cp:lastModifiedBy>
  <cp:revision>3</cp:revision>
  <dcterms:created xsi:type="dcterms:W3CDTF">2025-11-18T06:03:30Z</dcterms:created>
  <dcterms:modified xsi:type="dcterms:W3CDTF">2025-11-18T17:51:53Z</dcterms:modified>
</cp:coreProperties>
</file>